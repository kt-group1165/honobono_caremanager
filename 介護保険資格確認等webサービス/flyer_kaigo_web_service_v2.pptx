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936000"/>
          </a:xfrm>
          <a:prstGeom prst="rect">
            <a:avLst/>
          </a:prstGeom>
          <a:solidFill>
            <a:srgbClr val="063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0000" y="180000"/>
            <a:ext cx="648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游ゴシック"/>
              </a:rPr>
              <a:t>介護保険資格確認等WEBサービス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540000"/>
            <a:ext cx="6480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88DBC2"/>
                </a:solidFill>
                <a:latin typeface="游ゴシック"/>
              </a:rPr>
              <a:t>令和8年(2026年)4月 開始 ・ 居宅介護支援事業所さま向けご案内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80000"/>
            <a:ext cx="7560000" cy="3060000"/>
          </a:xfrm>
          <a:prstGeom prst="rect">
            <a:avLst/>
          </a:prstGeom>
          <a:solidFill>
            <a:srgbClr val="FE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1080000"/>
            <a:ext cx="7560000" cy="72000"/>
          </a:xfrm>
          <a:prstGeom prst="rect">
            <a:avLst/>
          </a:prstGeom>
          <a:solidFill>
            <a:srgbClr val="E86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0" y="4068000"/>
            <a:ext cx="7560000" cy="72000"/>
          </a:xfrm>
          <a:prstGeom prst="rect">
            <a:avLst/>
          </a:prstGeom>
          <a:solidFill>
            <a:srgbClr val="E86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40000" y="1368000"/>
            <a:ext cx="1980000" cy="19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0" b="1">
                <a:solidFill>
                  <a:srgbClr val="E86A0C"/>
                </a:solidFill>
                <a:latin typeface="游ゴシック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3240000"/>
            <a:ext cx="198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06365A"/>
                </a:solidFill>
                <a:latin typeface="游ゴシック"/>
              </a:rPr>
              <a:t>たった一回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00000" y="1440000"/>
            <a:ext cx="4320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E2933"/>
                </a:solidFill>
                <a:latin typeface="游ゴシック"/>
              </a:rPr>
              <a:t>利用者のマイナカードを読み取れば、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00000" y="1836000"/>
            <a:ext cx="432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06365A"/>
                </a:solidFill>
                <a:latin typeface="游ゴシック"/>
              </a:rPr>
              <a:t>以後すべて、自動で最新化。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00000" y="2520000"/>
            <a:ext cx="4320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E2933"/>
                </a:solidFill>
                <a:latin typeface="游ゴシック"/>
              </a:rPr>
              <a:t>被保険者証コピーの受領も、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72000"/>
            <a:ext cx="4320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E2933"/>
                </a:solidFill>
                <a:latin typeface="游ゴシック"/>
              </a:rPr>
              <a:t>毎年8月の負担割合証 更新も、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00000" y="3024000"/>
            <a:ext cx="4320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E2933"/>
                </a:solidFill>
                <a:latin typeface="游ゴシック"/>
              </a:rPr>
              <a:t>認定更新時の証書差し替えも、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00000" y="3348000"/>
            <a:ext cx="4320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E86A0C"/>
                </a:solidFill>
                <a:latin typeface="游ゴシック"/>
              </a:rPr>
              <a:t>もう、必要ありません。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000" y="4392000"/>
            <a:ext cx="6480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B7280"/>
                </a:solidFill>
                <a:latin typeface="游ゴシック"/>
              </a:rPr>
              <a:t>⎯⎯⎯  業務はこう変わります  ⎯⎯⎯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0000" y="4824000"/>
            <a:ext cx="3060000" cy="2340000"/>
          </a:xfrm>
          <a:prstGeom prst="roundRect">
            <a:avLst>
              <a:gd name="adj" fmla="val 3000"/>
            </a:avLst>
          </a:prstGeom>
          <a:solidFill>
            <a:srgbClr val="F7F5F0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48000" y="4968000"/>
            <a:ext cx="2844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6B7280"/>
                </a:solidFill>
                <a:latin typeface="游ゴシック"/>
              </a:rPr>
              <a:t>BEFORE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000" y="5220000"/>
            <a:ext cx="2844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E2933"/>
                </a:solidFill>
                <a:latin typeface="游ゴシック"/>
              </a:rPr>
              <a:t>紙ベースの繰り返し業務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4000" y="5616000"/>
            <a:ext cx="2808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E2933"/>
                </a:solidFill>
                <a:latin typeface="游ゴシック"/>
              </a:rPr>
              <a:t>✕  被保険者証コピーを毎回受領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4000" y="5904000"/>
            <a:ext cx="2808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E2933"/>
                </a:solidFill>
                <a:latin typeface="游ゴシック"/>
              </a:rPr>
              <a:t>✕  認定区分・期限を手入力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4000" y="6192000"/>
            <a:ext cx="2808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E2933"/>
                </a:solidFill>
                <a:latin typeface="游ゴシック"/>
              </a:rPr>
              <a:t>✕  毎年8月 負担割合証 更新作業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4000" y="6480000"/>
            <a:ext cx="2808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E2933"/>
                </a:solidFill>
                <a:latin typeface="游ゴシック"/>
              </a:rPr>
              <a:t>✕  計画書は FAX/手渡しで配布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4000" y="6768000"/>
            <a:ext cx="2808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E2933"/>
                </a:solidFill>
                <a:latin typeface="游ゴシック"/>
              </a:rPr>
              <a:t>✕  期限切れに気付かず請求エラー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960000" y="4824000"/>
            <a:ext cx="3060000" cy="234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4068000" y="4968000"/>
            <a:ext cx="2844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028090"/>
                </a:solidFill>
                <a:latin typeface="游ゴシック"/>
              </a:rPr>
              <a:t>AFTER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68000" y="5220000"/>
            <a:ext cx="2844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6365A"/>
                </a:solidFill>
                <a:latin typeface="游ゴシック"/>
              </a:rPr>
              <a:t>API で 自動・電子化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04000" y="5616000"/>
            <a:ext cx="2808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E2933"/>
                </a:solidFill>
                <a:latin typeface="游ゴシック"/>
              </a:rPr>
              <a:t>✓  認定・割合・有効期限を API 取得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04000" y="5904000"/>
            <a:ext cx="2808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E2933"/>
                </a:solidFill>
                <a:latin typeface="游ゴシック"/>
              </a:rPr>
              <a:t>✓  証コピー受領 / 手入力 不要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04000" y="6192000"/>
            <a:ext cx="2808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E2933"/>
                </a:solidFill>
                <a:latin typeface="游ゴシック"/>
              </a:rPr>
              <a:t>✓  毎年の証書更新も自動取込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04000" y="6480000"/>
            <a:ext cx="2808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E2933"/>
                </a:solidFill>
                <a:latin typeface="游ゴシック"/>
              </a:rPr>
              <a:t>✓  計画書を電子送受信 (FAX 撤廃)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04000" y="6768000"/>
            <a:ext cx="2808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E2933"/>
                </a:solidFill>
                <a:latin typeface="游ゴシック"/>
              </a:rPr>
              <a:t>✓  期限を介護ソフトが自動アラート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3600000" y="5760000"/>
            <a:ext cx="396000" cy="504000"/>
          </a:xfrm>
          <a:prstGeom prst="rightArrow">
            <a:avLst/>
          </a:prstGeom>
          <a:solidFill>
            <a:srgbClr val="E86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0000" y="7452000"/>
            <a:ext cx="6480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B7280"/>
                </a:solidFill>
                <a:latin typeface="游ゴシック"/>
              </a:rPr>
              <a:t>⎯⎯⎯  開始スケジュール  ⎯⎯⎯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0000" y="7920000"/>
            <a:ext cx="6480000" cy="3600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Oval 35"/>
          <p:cNvSpPr/>
          <p:nvPr/>
        </p:nvSpPr>
        <p:spPr>
          <a:xfrm>
            <a:off x="1008000" y="7740000"/>
            <a:ext cx="432000" cy="4320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游ゴシック"/>
              </a:rPr>
              <a:t>第1段階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6000" y="8280000"/>
            <a:ext cx="2016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028090"/>
                </a:solidFill>
                <a:latin typeface="游ゴシック"/>
              </a:rPr>
              <a:t>令和8年(2026年)  4月〜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6000" y="8568000"/>
            <a:ext cx="2016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>
                <a:solidFill>
                  <a:srgbClr val="1E2933"/>
                </a:solidFill>
                <a:latin typeface="游ゴシック"/>
              </a:rPr>
              <a:t>介護情報・資格確認 API</a:t>
            </a:r>
          </a:p>
          <a:p>
            <a:pPr algn="ctr">
              <a:lnSpc>
                <a:spcPct val="130000"/>
              </a:lnSpc>
            </a:pPr>
            <a:r>
              <a:rPr sz="1000" b="0">
                <a:solidFill>
                  <a:srgbClr val="1E2933"/>
                </a:solidFill>
                <a:latin typeface="游ゴシック"/>
              </a:rPr>
              <a:t>暫定版 運用開始</a:t>
            </a:r>
          </a:p>
        </p:txBody>
      </p:sp>
      <p:sp>
        <p:nvSpPr>
          <p:cNvPr id="39" name="Oval 38"/>
          <p:cNvSpPr/>
          <p:nvPr/>
        </p:nvSpPr>
        <p:spPr>
          <a:xfrm>
            <a:off x="3564000" y="7740000"/>
            <a:ext cx="432000" cy="432000"/>
          </a:xfrm>
          <a:prstGeom prst="ellipse">
            <a:avLst/>
          </a:prstGeom>
          <a:solidFill>
            <a:srgbClr val="E86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游ゴシック"/>
              </a:rPr>
              <a:t>第2段階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32000" y="8280000"/>
            <a:ext cx="2016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E86A0C"/>
                </a:solidFill>
                <a:latin typeface="游ゴシック"/>
              </a:rPr>
              <a:t>令和8年度 下期  (10月〜)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32000" y="8568000"/>
            <a:ext cx="2016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>
                <a:solidFill>
                  <a:srgbClr val="1E2933"/>
                </a:solidFill>
                <a:latin typeface="游ゴシック"/>
              </a:rPr>
              <a:t>ケアプランデータ連携</a:t>
            </a:r>
          </a:p>
          <a:p>
            <a:pPr algn="ctr">
              <a:lnSpc>
                <a:spcPct val="130000"/>
              </a:lnSpc>
            </a:pPr>
            <a:r>
              <a:rPr sz="1000" b="0">
                <a:solidFill>
                  <a:srgbClr val="1E2933"/>
                </a:solidFill>
                <a:latin typeface="游ゴシック"/>
              </a:rPr>
              <a:t>機能 稼働</a:t>
            </a:r>
          </a:p>
        </p:txBody>
      </p:sp>
      <p:sp>
        <p:nvSpPr>
          <p:cNvPr id="42" name="Oval 41"/>
          <p:cNvSpPr/>
          <p:nvPr/>
        </p:nvSpPr>
        <p:spPr>
          <a:xfrm>
            <a:off x="6120000" y="7740000"/>
            <a:ext cx="432000" cy="432000"/>
          </a:xfrm>
          <a:prstGeom prst="ellipse">
            <a:avLst/>
          </a:prstGeom>
          <a:solidFill>
            <a:srgbClr val="063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游ゴシック"/>
              </a:rPr>
              <a:t>今後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88000" y="8280000"/>
            <a:ext cx="2016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06365A"/>
                </a:solidFill>
                <a:latin typeface="游ゴシック"/>
              </a:rPr>
              <a:t>本格運用 (順次)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88000" y="8568000"/>
            <a:ext cx="2016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>
                <a:solidFill>
                  <a:srgbClr val="1E2933"/>
                </a:solidFill>
                <a:latin typeface="游ゴシック"/>
              </a:rPr>
              <a:t>同意・確認用登録</a:t>
            </a:r>
          </a:p>
          <a:p>
            <a:pPr algn="ctr">
              <a:lnSpc>
                <a:spcPct val="130000"/>
              </a:lnSpc>
            </a:pPr>
            <a:r>
              <a:rPr sz="1000" b="0">
                <a:solidFill>
                  <a:srgbClr val="1E2933"/>
                </a:solidFill>
                <a:latin typeface="游ゴシック"/>
              </a:rPr>
              <a:t>マイナポータル連携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9468000"/>
            <a:ext cx="7560000" cy="1224000"/>
          </a:xfrm>
          <a:prstGeom prst="rect">
            <a:avLst/>
          </a:prstGeom>
          <a:solidFill>
            <a:srgbClr val="063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540000" y="9648000"/>
            <a:ext cx="6480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88DBC2"/>
                </a:solidFill>
                <a:latin typeface="游ゴシック"/>
              </a:rPr>
              <a:t>居宅事業所さまへの 5 大メリット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0000" y="9972000"/>
            <a:ext cx="6480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1">
                <a:solidFill>
                  <a:srgbClr val="FFFFFF"/>
                </a:solidFill>
                <a:latin typeface="游ゴシック"/>
              </a:rPr>
              <a:t>▶  詳細は裏面をご覧ください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0000" y="10440000"/>
            <a:ext cx="648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88DBC2"/>
                </a:solidFill>
                <a:latin typeface="游ゴシック"/>
              </a:rPr>
              <a:t>株式会社ケイ・ティ・サービス  /  KTグループ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936000"/>
          </a:xfrm>
          <a:prstGeom prst="rect">
            <a:avLst/>
          </a:prstGeom>
          <a:solidFill>
            <a:srgbClr val="063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0000" y="180000"/>
            <a:ext cx="648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游ゴシック"/>
              </a:rPr>
              <a:t>居宅介護支援事業所さまの 5 大メリット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540000"/>
            <a:ext cx="6480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88DBC2"/>
                </a:solidFill>
                <a:latin typeface="游ゴシック"/>
              </a:rPr>
              <a:t>〜 新制度で、ケアマネ業務はこう変わる 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0000" y="1152000"/>
            <a:ext cx="6480000" cy="1296000"/>
          </a:xfrm>
          <a:prstGeom prst="roundRect">
            <a:avLst>
              <a:gd name="adj" fmla="val 3000"/>
            </a:avLst>
          </a:prstGeom>
          <a:solidFill>
            <a:srgbClr val="FFF3D6"/>
          </a:solidFill>
          <a:ln w="19050">
            <a:solidFill>
              <a:srgbClr val="E86A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40000" y="1152000"/>
            <a:ext cx="864000" cy="1296000"/>
          </a:xfrm>
          <a:prstGeom prst="rect">
            <a:avLst/>
          </a:prstGeom>
          <a:solidFill>
            <a:srgbClr val="E86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0000" y="1332000"/>
            <a:ext cx="864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游ゴシック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872000"/>
            <a:ext cx="864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1">
                <a:solidFill>
                  <a:srgbClr val="FFFFFF"/>
                </a:solidFill>
                <a:latin typeface="游ゴシック"/>
              </a:rPr>
              <a:t>最大効果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84000" y="1296000"/>
            <a:ext cx="522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6365A"/>
                </a:solidFill>
                <a:latin typeface="游ゴシック"/>
              </a:rPr>
              <a:t>計画書 配布業務の電子化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84000" y="1656000"/>
            <a:ext cx="5220000" cy="64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E2933"/>
                </a:solidFill>
                <a:latin typeface="游ゴシック"/>
              </a:rPr>
              <a:t>ケアプラン・利用票・提供票を 訪問介護/福祉用具 等のサービス事業所へ電子送信。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1E2933"/>
                </a:solidFill>
                <a:latin typeface="游ゴシック"/>
              </a:rPr>
              <a:t>月末月初の FAX・手渡しによる配布業務を大幅削減できます。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0000" y="2592000"/>
            <a:ext cx="3168000" cy="1728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540000" y="2592000"/>
            <a:ext cx="648000" cy="64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40000" y="2700000"/>
            <a:ext cx="648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游ゴシック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2000" y="2700000"/>
            <a:ext cx="2304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6365A"/>
                </a:solidFill>
                <a:latin typeface="游ゴシック"/>
              </a:rPr>
              <a:t>認定情報を 自動取得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4000" y="3348000"/>
            <a:ext cx="2880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E2933"/>
                </a:solidFill>
                <a:latin typeface="游ゴシック"/>
              </a:rPr>
              <a:t>被保険者番号だけで 認定区分・有効期限・負担割合 を最新取得。被保険者証コピー受領 / 手入力作業 が不要に。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52000" y="2592000"/>
            <a:ext cx="3168000" cy="1728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3852000" y="2592000"/>
            <a:ext cx="648000" cy="64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3852000" y="2700000"/>
            <a:ext cx="648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游ゴシック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4000" y="2700000"/>
            <a:ext cx="2304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6365A"/>
                </a:solidFill>
                <a:latin typeface="游ゴシック"/>
              </a:rPr>
              <a:t>過去ケアプラン 参照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96000" y="3348000"/>
            <a:ext cx="2880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E2933"/>
                </a:solidFill>
                <a:latin typeface="游ゴシック"/>
              </a:rPr>
              <a:t>交付用登録機能で 利用者の過去ケアプラン履歴を介護情報基盤から参照。事業所変更時の引継ぎがスムーズに。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0000" y="4464000"/>
            <a:ext cx="3168000" cy="1728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540000" y="4464000"/>
            <a:ext cx="648000" cy="64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40000" y="4572000"/>
            <a:ext cx="648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游ゴシック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32000" y="4572000"/>
            <a:ext cx="2304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6365A"/>
                </a:solidFill>
                <a:latin typeface="游ゴシック"/>
              </a:rPr>
              <a:t>購入費 / 改修費 確認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4000" y="5220000"/>
            <a:ext cx="2880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E2933"/>
                </a:solidFill>
                <a:latin typeface="游ゴシック"/>
              </a:rPr>
              <a:t>福祉用具購入費・住宅改修費の累計支給額・残額をその場で確認。計画立案の精度向上・ご案内に活用。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52000" y="4464000"/>
            <a:ext cx="3168000" cy="1728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3852000" y="4464000"/>
            <a:ext cx="648000" cy="64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3852000" y="4572000"/>
            <a:ext cx="648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游ゴシック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44000" y="4572000"/>
            <a:ext cx="2304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6365A"/>
                </a:solidFill>
                <a:latin typeface="游ゴシック"/>
              </a:rPr>
              <a:t>更新時期 自動アラート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96000" y="5220000"/>
            <a:ext cx="2880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E2933"/>
                </a:solidFill>
                <a:latin typeface="游ゴシック"/>
              </a:rPr>
              <a:t>有効期限を介護ソフトが自動で通知。期限切れによる請求エラー・サービス停止を未然に防止。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0000" y="6480000"/>
            <a:ext cx="6480000" cy="1512000"/>
          </a:xfrm>
          <a:prstGeom prst="roundRect">
            <a:avLst>
              <a:gd name="adj" fmla="val 3000"/>
            </a:avLst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92000" y="6624000"/>
            <a:ext cx="5976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6365A"/>
                </a:solidFill>
                <a:latin typeface="游ゴシック"/>
              </a:rPr>
              <a:t>ご利用までの準備 (事業所側)</a:t>
            </a:r>
          </a:p>
        </p:txBody>
      </p:sp>
      <p:sp>
        <p:nvSpPr>
          <p:cNvPr id="33" name="Oval 32"/>
          <p:cNvSpPr/>
          <p:nvPr/>
        </p:nvSpPr>
        <p:spPr>
          <a:xfrm>
            <a:off x="792000" y="7020000"/>
            <a:ext cx="288000" cy="288000"/>
          </a:xfrm>
          <a:prstGeom prst="ellipse">
            <a:avLst/>
          </a:prstGeom>
          <a:solidFill>
            <a:srgbClr val="063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游ゴシック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52000" y="6984000"/>
            <a:ext cx="2520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06365A"/>
                </a:solidFill>
                <a:latin typeface="游ゴシック"/>
              </a:rPr>
              <a:t>クライアント証明書 取得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52000" y="7236000"/>
            <a:ext cx="2520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7280"/>
                </a:solidFill>
                <a:latin typeface="游ゴシック"/>
              </a:rPr>
              <a:t>介護DX証明書 / 介護保険証明書 を国保中央会へ申請</a:t>
            </a:r>
          </a:p>
        </p:txBody>
      </p:sp>
      <p:sp>
        <p:nvSpPr>
          <p:cNvPr id="36" name="Oval 35"/>
          <p:cNvSpPr/>
          <p:nvPr/>
        </p:nvSpPr>
        <p:spPr>
          <a:xfrm>
            <a:off x="3888000" y="7020000"/>
            <a:ext cx="288000" cy="288000"/>
          </a:xfrm>
          <a:prstGeom prst="ellipse">
            <a:avLst/>
          </a:prstGeom>
          <a:solidFill>
            <a:srgbClr val="063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游ゴシック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48000" y="6984000"/>
            <a:ext cx="2520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06365A"/>
                </a:solidFill>
                <a:latin typeface="游ゴシック"/>
              </a:rPr>
              <a:t>ユーザ ID/PW 払い出し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48000" y="7236000"/>
            <a:ext cx="2520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7280"/>
                </a:solidFill>
                <a:latin typeface="游ゴシック"/>
              </a:rPr>
              <a:t>事業所/管理者/一般ユーザ の階層で発行</a:t>
            </a:r>
          </a:p>
        </p:txBody>
      </p:sp>
      <p:sp>
        <p:nvSpPr>
          <p:cNvPr id="39" name="Oval 38"/>
          <p:cNvSpPr/>
          <p:nvPr/>
        </p:nvSpPr>
        <p:spPr>
          <a:xfrm>
            <a:off x="792000" y="7524000"/>
            <a:ext cx="288000" cy="288000"/>
          </a:xfrm>
          <a:prstGeom prst="ellipse">
            <a:avLst/>
          </a:prstGeom>
          <a:solidFill>
            <a:srgbClr val="063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游ゴシック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52000" y="7488000"/>
            <a:ext cx="2520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06365A"/>
                </a:solidFill>
                <a:latin typeface="游ゴシック"/>
              </a:rPr>
              <a:t>マイナ資格確認アプリ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52000" y="7740000"/>
            <a:ext cx="2520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7280"/>
                </a:solidFill>
                <a:latin typeface="游ゴシック"/>
              </a:rPr>
              <a:t>PC カードリーダー or スマホ NFC で読み取り</a:t>
            </a:r>
          </a:p>
        </p:txBody>
      </p:sp>
      <p:sp>
        <p:nvSpPr>
          <p:cNvPr id="42" name="Oval 41"/>
          <p:cNvSpPr/>
          <p:nvPr/>
        </p:nvSpPr>
        <p:spPr>
          <a:xfrm>
            <a:off x="3888000" y="7524000"/>
            <a:ext cx="288000" cy="288000"/>
          </a:xfrm>
          <a:prstGeom prst="ellipse">
            <a:avLst/>
          </a:prstGeom>
          <a:solidFill>
            <a:srgbClr val="063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游ゴシック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48000" y="7488000"/>
            <a:ext cx="2520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06365A"/>
                </a:solidFill>
                <a:latin typeface="游ゴシック"/>
              </a:rPr>
              <a:t>対応介護ソフト 導入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48000" y="7740000"/>
            <a:ext cx="2520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7280"/>
                </a:solidFill>
                <a:latin typeface="游ゴシック"/>
              </a:rPr>
              <a:t>各ベンダーが API 実装を進行中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0000" y="8208000"/>
            <a:ext cx="6480000" cy="1296000"/>
          </a:xfrm>
          <a:prstGeom prst="roundRect">
            <a:avLst>
              <a:gd name="adj" fmla="val 3000"/>
            </a:avLst>
          </a:prstGeom>
          <a:solidFill>
            <a:srgbClr val="063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792000" y="8352000"/>
            <a:ext cx="5976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8DBC2"/>
                </a:solidFill>
                <a:latin typeface="游ゴシック"/>
              </a:rPr>
              <a:t>KTグループからのご提案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2000" y="8640000"/>
            <a:ext cx="5976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游ゴシック"/>
              </a:rPr>
              <a:t>居宅 ⇄ サービス事業所 の電子連携を、まずは KT グループと。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2000" y="9036000"/>
            <a:ext cx="5976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>
                <a:solidFill>
                  <a:srgbClr val="88DBC2"/>
                </a:solidFill>
                <a:latin typeface="游ゴシック"/>
              </a:rPr>
              <a:t>KTグループでは新制度に対応した受信体制を構築中。貴事業所のケアプランを、</a:t>
            </a:r>
          </a:p>
          <a:p>
            <a:pPr algn="ctr">
              <a:lnSpc>
                <a:spcPct val="140000"/>
              </a:lnSpc>
            </a:pPr>
            <a:r>
              <a:rPr sz="1000" b="0">
                <a:solidFill>
                  <a:srgbClr val="88DBC2"/>
                </a:solidFill>
                <a:latin typeface="游ゴシック"/>
              </a:rPr>
              <a:t>当グループの 訪問介護・福祉用具事業所 へ電子送信できる仕組みをご用意します。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40000" y="9648000"/>
            <a:ext cx="6480000" cy="648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E86A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720000" y="9756000"/>
            <a:ext cx="6120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E86A0C"/>
                </a:solidFill>
                <a:latin typeface="游ゴシック"/>
              </a:rPr>
              <a:t>お問い合わせ ・ 連携体制のご相談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0000" y="10008000"/>
            <a:ext cx="6120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E2933"/>
                </a:solidFill>
                <a:latin typeface="游ゴシック"/>
              </a:rPr>
              <a:t>株式会社ケイ・ティ・サービス / KTグループ      TEL: 043-XXX-XXXX      Web: kt-group.co.jp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0000" y="10440000"/>
            <a:ext cx="648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>
                <a:solidFill>
                  <a:srgbClr val="6B7280"/>
                </a:solidFill>
                <a:latin typeface="游ゴシック"/>
              </a:rPr>
              <a:t>※ 本資料は令和8年4月時点の暫定版仕様 (国保中央会公表) に基づき作成。正式版で項目が変更される可能性があります。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