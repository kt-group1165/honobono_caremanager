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HGP創英角ﾎﾟｯﾌﾟ体"/>
              </a:rPr>
              <a:t>介護保険資格確認等WEBサービス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8DBC2"/>
                </a:solidFill>
                <a:latin typeface="HG丸ゴシックM-PRO"/>
              </a:rPr>
              <a:t>令和8年(2026年)4月 開始  ・  居宅介護支援事業所さま向けご案内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8000"/>
            <a:ext cx="7560000" cy="1080000"/>
          </a:xfrm>
          <a:prstGeom prst="rect">
            <a:avLst/>
          </a:prstGeom>
          <a:solidFill>
            <a:srgbClr val="FE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1008000"/>
            <a:ext cx="7560000" cy="54000"/>
          </a:xfrm>
          <a:prstGeom prst="rect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2034000"/>
            <a:ext cx="7560000" cy="54000"/>
          </a:xfrm>
          <a:prstGeom prst="rect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64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6365A"/>
                </a:solidFill>
                <a:latin typeface="HGP創英角ﾎﾟｯﾌﾟ体"/>
              </a:rPr>
              <a:t>こんなこと、ありませんか?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E2933"/>
                </a:solidFill>
                <a:latin typeface="HG丸ゴシックM-PRO"/>
              </a:rPr>
              <a:t>居宅ケアマネ業務 5 つの「あるある」場面が、新しい WEB サービスでこう変わります。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836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〜 紙・FAX・電話・コピー回収 から、API による電子連携へ 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2232000"/>
            <a:ext cx="6480000" cy="11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0000" y="2232000"/>
            <a:ext cx="792000" cy="1116000"/>
          </a:xfrm>
          <a:prstGeom prst="roundRect">
            <a:avLst>
              <a:gd name="adj" fmla="val 5000"/>
            </a:avLst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2000" y="2232000"/>
            <a:ext cx="540000" cy="1116000"/>
          </a:xfrm>
          <a:prstGeom prst="rect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0000" y="2376000"/>
            <a:ext cx="79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GP創英角ﾎﾟｯﾌﾟ体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880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HGP創英角ﾎﾟｯﾌﾟ体"/>
              </a:rPr>
              <a:t>場面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322000"/>
            <a:ext cx="547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365A"/>
                </a:solidFill>
                <a:latin typeface="HGP創英角ﾎﾟｯﾌﾟ体"/>
              </a:rPr>
              <a:t>月初の 利用票・提供票 配布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574000"/>
            <a:ext cx="547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「毎月10ヶ所のサービス事業所へ FAX 流すだけで半日…」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0000" y="2772000"/>
            <a:ext cx="2628000" cy="468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512000" y="2808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2988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紙でプリント → FAX 送信 → 受領確認の電話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04000" y="2880000"/>
            <a:ext cx="216000" cy="252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92000" y="2772000"/>
            <a:ext cx="2520000" cy="468000"/>
          </a:xfrm>
          <a:prstGeom prst="roundRect">
            <a:avLst>
              <a:gd name="adj" fmla="val 10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64000" y="2808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4000" y="2988000"/>
            <a:ext cx="241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介護ソフトから 一斉電子送信 → 受信も自動確認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3420000"/>
            <a:ext cx="6480000" cy="11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40000" y="3420000"/>
            <a:ext cx="792000" cy="11160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92000" y="3420000"/>
            <a:ext cx="540000" cy="111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0000" y="3564000"/>
            <a:ext cx="79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GP創英角ﾎﾟｯﾌﾟ体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4068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HGP創英角ﾎﾟｯﾌﾟ体"/>
              </a:rPr>
              <a:t>場面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000" y="3510000"/>
            <a:ext cx="547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365A"/>
                </a:solidFill>
                <a:latin typeface="HGP創英角ﾎﾟｯﾌﾟ体"/>
              </a:rPr>
              <a:t>認定更新時の 証コピー受領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0000" y="3762000"/>
            <a:ext cx="547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「認定通知書をコピーで受け取って、介護ソフトに手入力…」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40000" y="3960000"/>
            <a:ext cx="2628000" cy="468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512000" y="3996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2000" y="4176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コピー受領 → 手入力 → ミスで返戻リスク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104000" y="4068000"/>
            <a:ext cx="216000" cy="252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92000" y="3960000"/>
            <a:ext cx="2520000" cy="468000"/>
          </a:xfrm>
          <a:prstGeom prst="roundRect">
            <a:avLst>
              <a:gd name="adj" fmla="val 10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64000" y="3996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4000" y="4176000"/>
            <a:ext cx="241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被保険者番号で API 照会 → 最新情報を自動取得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0000" y="4608000"/>
            <a:ext cx="6480000" cy="11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40000" y="4608000"/>
            <a:ext cx="792000" cy="11160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92000" y="4608000"/>
            <a:ext cx="540000" cy="111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0000" y="4752000"/>
            <a:ext cx="79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GP創英角ﾎﾟｯﾌﾟ体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" y="5256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HGP創英角ﾎﾟｯﾌﾟ体"/>
              </a:rPr>
              <a:t>場面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0000" y="4698000"/>
            <a:ext cx="547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365A"/>
                </a:solidFill>
                <a:latin typeface="HGP創英角ﾎﾟｯﾌﾟ体"/>
              </a:rPr>
              <a:t>毎年8月の 負担割合証 回収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0000" y="4950000"/>
            <a:ext cx="547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「8月になると35名分の負担割合証コピー回収に走り回る…」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0000" y="5148000"/>
            <a:ext cx="2628000" cy="468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512000" y="5184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12000" y="5364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各家庭訪問 → コピー受領 → 介護ソフト更新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104000" y="5256000"/>
            <a:ext cx="216000" cy="252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92000" y="5148000"/>
            <a:ext cx="2520000" cy="468000"/>
          </a:xfrm>
          <a:prstGeom prst="roundRect">
            <a:avLst>
              <a:gd name="adj" fmla="val 10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464000" y="5184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64000" y="5364000"/>
            <a:ext cx="241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訪問・受領 不要 → API で 自動反映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0000" y="5796000"/>
            <a:ext cx="6480000" cy="11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540000" y="5796000"/>
            <a:ext cx="792000" cy="1116000"/>
          </a:xfrm>
          <a:prstGeom prst="roundRect">
            <a:avLst>
              <a:gd name="adj" fmla="val 5000"/>
            </a:avLst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92000" y="5796000"/>
            <a:ext cx="540000" cy="1116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0000" y="5940000"/>
            <a:ext cx="79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GP創英角ﾎﾟｯﾌﾟ体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000" y="6444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HGP創英角ﾎﾟｯﾌﾟ体"/>
              </a:rPr>
              <a:t>場面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0000" y="5886000"/>
            <a:ext cx="547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365A"/>
                </a:solidFill>
                <a:latin typeface="HGP創英角ﾎﾟｯﾌﾟ体"/>
              </a:rPr>
              <a:t>新規受入れ時の 引継ぎ情報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40000" y="6138000"/>
            <a:ext cx="547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「前の居宅から十分な情報がもらえず、利用者にも聞き直し…」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40000" y="6336000"/>
            <a:ext cx="2628000" cy="468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512000" y="6372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12000" y="6552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紙の引継ぎ書頼り / 情報不足 / 再ヒアリング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4104000" y="6444000"/>
            <a:ext cx="216000" cy="252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392000" y="6336000"/>
            <a:ext cx="2520000" cy="468000"/>
          </a:xfrm>
          <a:prstGeom prst="roundRect">
            <a:avLst>
              <a:gd name="adj" fmla="val 10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464000" y="6372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64000" y="6552000"/>
            <a:ext cx="241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介護情報基盤から 過去ケアプラン履歴 を参照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0000" y="6984000"/>
            <a:ext cx="6480000" cy="11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540000" y="6984000"/>
            <a:ext cx="792000" cy="111600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92000" y="6984000"/>
            <a:ext cx="540000" cy="111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40000" y="7128000"/>
            <a:ext cx="79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GP創英角ﾎﾟｯﾌﾟ体"/>
              </a:rPr>
              <a:t>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0000" y="763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HGP創英角ﾎﾟｯﾌﾟ体"/>
              </a:rPr>
              <a:t>場面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40000" y="7074000"/>
            <a:ext cx="5472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365A"/>
                </a:solidFill>
                <a:latin typeface="HGP創英角ﾎﾟｯﾌﾟ体"/>
              </a:rPr>
              <a:t>認定有効期限 の チェック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40000" y="7326000"/>
            <a:ext cx="547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「気付いたら期限切れで請求エラー…月末に大慌て…」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40000" y="7524000"/>
            <a:ext cx="2628000" cy="468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512000" y="7560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12000" y="7740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介護ソフトを目視チェック / 個別カレンダー管理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4104000" y="7632000"/>
            <a:ext cx="216000" cy="252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392000" y="7524000"/>
            <a:ext cx="2520000" cy="468000"/>
          </a:xfrm>
          <a:prstGeom prst="roundRect">
            <a:avLst>
              <a:gd name="adj" fmla="val 10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4464000" y="7560000"/>
            <a:ext cx="64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64000" y="7740000"/>
            <a:ext cx="241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期限切れ前に 自動アラート → 計画的更新が可能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8208000"/>
            <a:ext cx="7560000" cy="1800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40000" y="8388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DBC2"/>
                </a:solidFill>
                <a:latin typeface="HG丸ゴシックM-PRO"/>
              </a:rPr>
              <a:t>つまり、ケアマネ業務はこう変わります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0000" y="8712000"/>
            <a:ext cx="648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HGP創英角ﾎﾟｯﾌﾟ体"/>
              </a:rPr>
              <a:t>紙とFAXに追われる毎月から、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0000" y="9108000"/>
            <a:ext cx="648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6A0C"/>
                </a:solidFill>
                <a:latin typeface="HGP創英角ﾎﾟｯﾌﾟ体"/>
              </a:rPr>
              <a:t>利用者と向き合う時間 を取り戻せます。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0000" y="9648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8DBC2"/>
                </a:solidFill>
                <a:latin typeface="HG丸ゴシックM-PRO"/>
              </a:rPr>
              <a:t>▶  裏面で 1ヶ月の業務 が どう変わるか をご紹介します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0000" y="10152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※ 同意の有効期間・再取得要否は現時点での情報。令和8年4月の正式版で確定予定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HGP創英角ﾎﾟｯﾌﾟ体"/>
              </a:rPr>
              <a:t>ケアマネの 1ヶ月、こう変わる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8DBC2"/>
                </a:solidFill>
                <a:latin typeface="HG丸ゴシックM-PRO"/>
              </a:rPr>
              <a:t>〜 月初・月中・月末 業務の Before / After ・ 利用シーン別の便利ポイント 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6365A"/>
                </a:solidFill>
                <a:latin typeface="HGP創英角ﾎﾟｯﾌﾟ体"/>
              </a:rPr>
              <a:t>1ヶ月のケアマネ業務 Before /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32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— 現状の手間と、新サービス導入後の姿を時系列で比較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584000"/>
            <a:ext cx="1008000" cy="792000"/>
          </a:xfrm>
          <a:prstGeom prst="roundRect">
            <a:avLst>
              <a:gd name="adj" fmla="val 8000"/>
            </a:avLst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0000" y="1692000"/>
            <a:ext cx="100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GP創英角ﾎﾟｯﾌﾟ体"/>
              </a:rPr>
              <a:t>月  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052000"/>
            <a:ext cx="100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FFFFFF"/>
                </a:solidFill>
                <a:latin typeface="HG丸ゴシックM-PRO"/>
              </a:rPr>
              <a:t>1-3日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6000" y="1584000"/>
            <a:ext cx="2556000" cy="792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64000" y="1638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000" y="1836000"/>
            <a:ext cx="241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利用票・提供票 を サービス事業所へFAX  /  受領確認の電話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84000" y="1836000"/>
            <a:ext cx="216000" cy="288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584000"/>
            <a:ext cx="2448000" cy="792000"/>
          </a:xfrm>
          <a:prstGeom prst="roundRect">
            <a:avLst>
              <a:gd name="adj" fmla="val 8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80000" y="1638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836000"/>
            <a:ext cx="2304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介護ソフトから 電子送信  /  受信確認も自動  → 半日の作業が 30 分に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520000"/>
            <a:ext cx="1008000" cy="792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0000" y="2628000"/>
            <a:ext cx="100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GP創英角ﾎﾟｯﾌﾟ体"/>
              </a:rPr>
              <a:t>月  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2988000"/>
            <a:ext cx="100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FFFFFF"/>
                </a:solidFill>
                <a:latin typeface="HG丸ゴシックM-PRO"/>
              </a:rPr>
              <a:t>10-20日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56000" y="2520000"/>
            <a:ext cx="2556000" cy="792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764000" y="2574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000" y="2772000"/>
            <a:ext cx="241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認定更新・期限管理を 目視チェック  /  証コピー受領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284000" y="2772000"/>
            <a:ext cx="216000" cy="288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0" y="2520000"/>
            <a:ext cx="2448000" cy="792000"/>
          </a:xfrm>
          <a:prstGeom prst="roundRect">
            <a:avLst>
              <a:gd name="adj" fmla="val 8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80000" y="2574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0" y="2772000"/>
            <a:ext cx="2304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認定情報を API 自動取得  /  期限切れ前に 自動アラート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0000" y="3456000"/>
            <a:ext cx="1008000" cy="792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0000" y="3564000"/>
            <a:ext cx="100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GP創英角ﾎﾟｯﾌﾟ体"/>
              </a:rPr>
              <a:t>月  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3924000"/>
            <a:ext cx="100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FFFFFF"/>
                </a:solidFill>
                <a:latin typeface="HG丸ゴシックM-PRO"/>
              </a:rPr>
              <a:t>27-31日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56000" y="3456000"/>
            <a:ext cx="2556000" cy="792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764000" y="3510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000" y="3708000"/>
            <a:ext cx="241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翌月利用票 作成のため 各事業所と電話・FAX で予定すり合わせ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284000" y="3708000"/>
            <a:ext cx="216000" cy="288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0" y="3456000"/>
            <a:ext cx="2448000" cy="792000"/>
          </a:xfrm>
          <a:prstGeom prst="roundRect">
            <a:avLst>
              <a:gd name="adj" fmla="val 8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680000" y="3510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0000" y="3708000"/>
            <a:ext cx="2304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前月実績データを そのまま活用  /  電子で計画調整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0000" y="4392000"/>
            <a:ext cx="1008000" cy="792000"/>
          </a:xfrm>
          <a:prstGeom prst="roundRect">
            <a:avLst>
              <a:gd name="adj" fmla="val 8000"/>
            </a:avLst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40000" y="4500000"/>
            <a:ext cx="100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GP創英角ﾎﾟｯﾌﾟ体"/>
              </a:rPr>
              <a:t>年1回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4860000"/>
            <a:ext cx="100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FFFFFF"/>
                </a:solidFill>
                <a:latin typeface="HG丸ゴシックM-PRO"/>
              </a:rPr>
              <a:t>8月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56000" y="4392000"/>
            <a:ext cx="2556000" cy="792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764000" y="4446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C0392B"/>
                </a:solidFill>
                <a:latin typeface="HGP創英角ﾎﾟｯﾌﾟ体"/>
              </a:rPr>
              <a:t>今まで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4000" y="4644000"/>
            <a:ext cx="241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負担割合証コピー を 全利用者から回収  (担当35件 × 訪問)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284000" y="4644000"/>
            <a:ext cx="216000" cy="288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0" y="4392000"/>
            <a:ext cx="2448000" cy="792000"/>
          </a:xfrm>
          <a:prstGeom prst="roundRect">
            <a:avLst>
              <a:gd name="adj" fmla="val 8000"/>
            </a:avLst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680000" y="4446000"/>
            <a:ext cx="5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108052"/>
                </a:solidFill>
                <a:latin typeface="HGP創英角ﾎﾟｯﾌﾟ体"/>
              </a:rPr>
              <a:t>これから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0000" y="4644000"/>
            <a:ext cx="2304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訪問・回収 不要  /  API で 全員分 一括自動反映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5472000"/>
            <a:ext cx="6480000" cy="1008000"/>
          </a:xfrm>
          <a:prstGeom prst="roundRect">
            <a:avLst>
              <a:gd name="adj" fmla="val 5000"/>
            </a:avLst>
          </a:prstGeom>
          <a:solidFill>
            <a:srgbClr val="FFF3D6"/>
          </a:solidFill>
          <a:ln w="15240">
            <a:solidFill>
              <a:srgbClr val="E86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20000" y="5580000"/>
            <a:ext cx="61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6A0C"/>
                </a:solidFill>
                <a:latin typeface="HGP創英角ﾎﾟｯﾌﾟ体"/>
              </a:rPr>
              <a:t>【期待される効果】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" y="5832000"/>
            <a:ext cx="201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HG丸ゴシックM-PRO"/>
              </a:rPr>
              <a:t>FAX 業務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00" y="601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A0C"/>
                </a:solidFill>
                <a:latin typeface="HGP創英角ﾎﾟｯﾌﾟ体"/>
              </a:rPr>
              <a:t>大幅減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6300000"/>
            <a:ext cx="2016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計画書・利用票・提供票の電子化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8000" y="5832000"/>
            <a:ext cx="201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HG丸ゴシックM-PRO"/>
              </a:rPr>
              <a:t>コピー受領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8000" y="601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A0C"/>
                </a:solidFill>
                <a:latin typeface="HGP創英角ﾎﾟｯﾌﾟ体"/>
              </a:rPr>
              <a:t>ほぼゼロ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08000" y="6300000"/>
            <a:ext cx="2016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被保険者証 / 負担割合証 / 認定通知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6000" y="5832000"/>
            <a:ext cx="201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HG丸ゴシックM-PRO"/>
              </a:rPr>
              <a:t>期限切れ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6000" y="601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6A0C"/>
                </a:solidFill>
                <a:latin typeface="HGP創英角ﾎﾟｯﾌﾟ体"/>
              </a:rPr>
              <a:t>0 件 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6000" y="6300000"/>
            <a:ext cx="2016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介護ソフト 自動アラートで未然防止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0000" y="6624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HGP創英角ﾎﾟｯﾌﾟ体"/>
              </a:rPr>
              <a:t>おまけ: 利用者さま側のメリットも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000" y="6840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HG丸ゴシックM-PRO"/>
              </a:rPr>
              <a:t>— ケアマネからの「コピーちょうだい」「印鑑お願いします」が減ります 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0000" y="7128000"/>
            <a:ext cx="2016000" cy="396000"/>
          </a:xfrm>
          <a:prstGeom prst="roundRect">
            <a:avLst>
              <a:gd name="adj" fmla="val 10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12000" y="7200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2933"/>
                </a:solidFill>
                <a:latin typeface="HG丸ゴシックM-PRO"/>
              </a:rPr>
              <a:t>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000" y="7272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同意の範囲を 利用者自身が管理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00000" y="7128000"/>
            <a:ext cx="2016000" cy="396000"/>
          </a:xfrm>
          <a:prstGeom prst="roundRect">
            <a:avLst>
              <a:gd name="adj" fmla="val 10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2772000" y="7200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2933"/>
                </a:solidFill>
                <a:latin typeface="HG丸ゴシックM-PRO"/>
              </a:rPr>
              <a:t>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96000" y="7272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被保険者証 / 負担割合証コピーの 手渡し不要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60000" y="7128000"/>
            <a:ext cx="2016000" cy="396000"/>
          </a:xfrm>
          <a:prstGeom prst="roundRect">
            <a:avLst>
              <a:gd name="adj" fmla="val 10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932000" y="72000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E2933"/>
                </a:solidFill>
                <a:latin typeface="HG丸ゴシックM-PRO"/>
              </a:rPr>
              <a:t>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6000" y="7272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E2933"/>
                </a:solidFill>
                <a:latin typeface="HG丸ゴシックM-PRO"/>
              </a:rPr>
              <a:t>事業所変更時も 過去の計画 を引き継ぎ可能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0000" y="7596000"/>
            <a:ext cx="6480000" cy="11520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92000" y="7704000"/>
            <a:ext cx="597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HGP創英角ﾎﾟｯﾌﾟ体"/>
              </a:rPr>
              <a:t>ご利用までに必要な準備</a:t>
            </a:r>
          </a:p>
        </p:txBody>
      </p:sp>
      <p:sp>
        <p:nvSpPr>
          <p:cNvPr id="71" name="Oval 70"/>
          <p:cNvSpPr/>
          <p:nvPr/>
        </p:nvSpPr>
        <p:spPr>
          <a:xfrm>
            <a:off x="792000" y="7992000"/>
            <a:ext cx="252000" cy="252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GP創英角ﾎﾟｯﾌﾟ体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6000" y="79920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クライアント証明書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6000" y="8208000"/>
            <a:ext cx="12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介護DX証明書 / 介護保険証明書</a:t>
            </a:r>
          </a:p>
        </p:txBody>
      </p:sp>
      <p:sp>
        <p:nvSpPr>
          <p:cNvPr id="74" name="Oval 73"/>
          <p:cNvSpPr/>
          <p:nvPr/>
        </p:nvSpPr>
        <p:spPr>
          <a:xfrm>
            <a:off x="2376000" y="7992000"/>
            <a:ext cx="252000" cy="252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GP創英角ﾎﾟｯﾌﾟ体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00000" y="79920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ユーザ ID・PW 払い出し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00000" y="8208000"/>
            <a:ext cx="12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事業所/管理者/一般 の3階層</a:t>
            </a:r>
          </a:p>
        </p:txBody>
      </p:sp>
      <p:sp>
        <p:nvSpPr>
          <p:cNvPr id="77" name="Oval 76"/>
          <p:cNvSpPr/>
          <p:nvPr/>
        </p:nvSpPr>
        <p:spPr>
          <a:xfrm>
            <a:off x="3960000" y="7992000"/>
            <a:ext cx="252000" cy="252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GP創英角ﾎﾟｯﾌﾟ体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84000" y="79920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マイナ資格確認アプリ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4000" y="8208000"/>
            <a:ext cx="12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PCカードリーダー or スマホNFC</a:t>
            </a:r>
          </a:p>
        </p:txBody>
      </p:sp>
      <p:sp>
        <p:nvSpPr>
          <p:cNvPr id="80" name="Oval 79"/>
          <p:cNvSpPr/>
          <p:nvPr/>
        </p:nvSpPr>
        <p:spPr>
          <a:xfrm>
            <a:off x="5544000" y="7992000"/>
            <a:ext cx="252000" cy="252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GP創英角ﾎﾟｯﾌﾟ体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68000" y="79920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6365A"/>
                </a:solidFill>
                <a:latin typeface="HG丸ゴシックM-PRO"/>
              </a:rPr>
              <a:t>対応介護ソフト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68000" y="8208000"/>
            <a:ext cx="12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各ベンダーが API 実装中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0000" y="8892000"/>
            <a:ext cx="6480000" cy="792000"/>
          </a:xfrm>
          <a:prstGeom prst="roundRect">
            <a:avLst>
              <a:gd name="adj" fmla="val 5000"/>
            </a:avLst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92000" y="9000000"/>
            <a:ext cx="597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DBC2"/>
                </a:solidFill>
                <a:latin typeface="HG丸ゴシックM-PRO"/>
              </a:rPr>
              <a:t>KTグループからのご提案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2000" y="9180000"/>
            <a:ext cx="597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GP創英角ﾎﾟｯﾌﾟ体"/>
              </a:rPr>
              <a:t>居宅 ⇄ サービス事業所 の電子連携、まずは KTグループと。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2000" y="9468000"/>
            <a:ext cx="597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DBC2"/>
                </a:solidFill>
                <a:latin typeface="HG丸ゴシックM-PRO"/>
              </a:rPr>
              <a:t>訪問介護・福祉用具事業所 と スムーズに連携できる受信体制を構築中。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40000" y="9792000"/>
            <a:ext cx="6480000" cy="5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6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20000" y="9846000"/>
            <a:ext cx="61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E86A0C"/>
                </a:solidFill>
                <a:latin typeface="HGP創英角ﾎﾟｯﾌﾟ体"/>
              </a:rPr>
              <a:t>お問い合わせ / 連携体制のご相談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0000" y="10044000"/>
            <a:ext cx="61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HG丸ゴシックM-PRO"/>
              </a:rPr>
              <a:t>株式会社ケイ・ティ・サービス / KTグループ      TEL: 043-XXX-XXXX      Web: kt-group.co.jp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0000" y="1040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6B7280"/>
                </a:solidFill>
                <a:latin typeface="HG丸ゴシックM-PRO"/>
              </a:rPr>
              <a:t>※ 本資料は現時点の情報 (国保中央会公表の暫定版仕様) に基づき作成。同意有効期間等の運用詳細は令和8年4月の正式版で確定予定。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